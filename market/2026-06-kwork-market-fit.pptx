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7A33"/>
                </a:solidFill>
              </a:defRPr>
            </a:pPr>
            <a:r>
              <a:t>Kwork market-fit — два аккаунта (Влад + Настя)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82A"/>
                </a:solidFill>
              </a:defRPr>
            </a:pPr>
            <a:r>
              <a:t>•  Проход 1, 2026-06-14 · ветка claude/kwork-market-fit-2026-06</a:t>
            </a:r>
          </a:p>
          <a:p>
            <a:pPr>
              <a:spcAft>
                <a:spcPts val="800"/>
              </a:spcAft>
              <a:defRPr sz="1800">
                <a:solidFill>
                  <a:srgbClr val="23282A"/>
                </a:solidFill>
              </a:defRPr>
            </a:pPr>
            <a:r>
              <a:t>•  Цель: где реально побеждаем или стабильно забираем работу</a:t>
            </a:r>
          </a:p>
          <a:p>
            <a:pPr>
              <a:spcAft>
                <a:spcPts val="800"/>
              </a:spcAft>
              <a:defRPr sz="1800">
                <a:solidFill>
                  <a:srgbClr val="23282A"/>
                </a:solidFill>
              </a:defRPr>
            </a:pPr>
            <a:r>
              <a:t>•  Деньги-на-старте — у Насти (бухгалтерия), деньги-в-перспективе — у Влада (AI/данные)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7A33"/>
                </a:solidFill>
              </a:defRPr>
            </a:pPr>
            <a:r>
              <a:t>Рынок в цифрах (Kwork, 30 дней)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82A"/>
                </a:solidFill>
              </a:defRPr>
            </a:pPr>
            <a:r>
              <a:t>•  9 141 активный проект · 4 310 заказов · оборот 94,5 млн ₽</a:t>
            </a:r>
          </a:p>
          <a:p>
            <a:pPr>
              <a:spcAft>
                <a:spcPts val="800"/>
              </a:spcAft>
              <a:defRPr sz="1800">
                <a:solidFill>
                  <a:srgbClr val="23282A"/>
                </a:solidFill>
              </a:defRPr>
            </a:pPr>
            <a:r>
              <a:t>•  Медиана цены: Excel ~7 000 ₽ · AI-автоматизация ~7 000 ₽ · B2B-КП ~10 000 ₽</a:t>
            </a:r>
          </a:p>
          <a:p>
            <a:pPr>
              <a:spcAft>
                <a:spcPts val="800"/>
              </a:spcAft>
              <a:defRPr sz="1800">
                <a:solidFill>
                  <a:srgbClr val="23282A"/>
                </a:solidFill>
              </a:defRPr>
            </a:pPr>
            <a:r>
              <a:t>•  Мин. кворк 500 ₽ · комиссия 20/12/7,5% · уровень с рейтинга 4,7</a:t>
            </a:r>
          </a:p>
          <a:p>
            <a:pPr>
              <a:spcAft>
                <a:spcPts val="800"/>
              </a:spcAft>
              <a:defRPr sz="1800">
                <a:solidFill>
                  <a:srgbClr val="23282A"/>
                </a:solidFill>
              </a:defRPr>
            </a:pPr>
            <a:r>
              <a:t>•  Источник: kwork.ru/projects + историч. скрейп 6900+ карточек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7A33"/>
                </a:solidFill>
              </a:defRPr>
            </a:pPr>
            <a:r>
              <a:t>Сильнейшие направления (WIN / TAKE)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82A"/>
                </a:solidFill>
              </a:defRPr>
            </a:pPr>
            <a:r>
              <a:t>•  WIN · ОСВ/акты сверки/1С (Настя) — эфф. ~800 ₽/ч, реальные корочки</a:t>
            </a:r>
          </a:p>
          <a:p>
            <a:pPr>
              <a:spcAft>
                <a:spcPts val="800"/>
              </a:spcAft>
              <a:defRPr sz="1800">
                <a:solidFill>
                  <a:srgbClr val="23282A"/>
                </a:solidFill>
              </a:defRPr>
            </a:pPr>
            <a:r>
              <a:t>•  WIN · Бухгалтерия маркетплейсов WB/Ozon (Настя) — ~900 ₽/ч, редкий козырь</a:t>
            </a:r>
          </a:p>
          <a:p>
            <a:pPr>
              <a:spcAft>
                <a:spcPts val="800"/>
              </a:spcAft>
              <a:defRPr sz="1800">
                <a:solidFill>
                  <a:srgbClr val="23282A"/>
                </a:solidFill>
              </a:defRPr>
            </a:pPr>
            <a:r>
              <a:t>•  WIN · AI-агенты/Codex (Влад) — ~800 ₽/ч, реальный рычаг</a:t>
            </a:r>
          </a:p>
          <a:p>
            <a:pPr>
              <a:spcAft>
                <a:spcPts val="800"/>
              </a:spcAft>
              <a:defRPr sz="1800">
                <a:solidFill>
                  <a:srgbClr val="23282A"/>
                </a:solidFill>
              </a:defRPr>
            </a:pPr>
            <a:r>
              <a:t>•  TAKE→WIN · Python/парсеры/боты (Влад) — ~1000 ₽/ч (нужна витрина)</a:t>
            </a:r>
          </a:p>
          <a:p>
            <a:pPr>
              <a:spcAft>
                <a:spcPts val="800"/>
              </a:spcAft>
              <a:defRPr sz="1800">
                <a:solidFill>
                  <a:srgbClr val="23282A"/>
                </a:solidFill>
              </a:defRPr>
            </a:pPr>
            <a:r>
              <a:t>•  TAKE→WIN · Excel/Power Query/дашборды (оба) — ~700 ₽/ч, AI-скорость</a:t>
            </a:r>
          </a:p>
          <a:p>
            <a:pPr>
              <a:spcAft>
                <a:spcPts val="800"/>
              </a:spcAft>
              <a:defRPr sz="1800">
                <a:solidFill>
                  <a:srgbClr val="23282A"/>
                </a:solidFill>
              </a:defRPr>
            </a:pPr>
            <a:r>
              <a:t>•  TAKE→WIN · Анализ данных/отчёты (Влад) — ~900 ₽/ч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7A33"/>
                </a:solidFill>
              </a:defRPr>
            </a:pPr>
            <a:r>
              <a:t>Кладбище — НЕ брать (Оппонент)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82A"/>
                </a:solidFill>
              </a:defRPr>
            </a:pPr>
            <a:r>
              <a:t>•  Студенческое как основа — токсично для рейтинга, низкий чек (только разминка)</a:t>
            </a:r>
          </a:p>
          <a:p>
            <a:pPr>
              <a:spcAft>
                <a:spcPts val="800"/>
              </a:spcAft>
              <a:defRPr sz="1800">
                <a:solidFill>
                  <a:srgbClr val="23282A"/>
                </a:solidFill>
              </a:defRPr>
            </a:pPr>
            <a:r>
              <a:t>•  Карточки/WordPress/SEO как опора — коммодити, эфф. ставка ~350 ₽/ч</a:t>
            </a:r>
          </a:p>
          <a:p>
            <a:pPr>
              <a:spcAft>
                <a:spcPts val="800"/>
              </a:spcAft>
              <a:defRPr sz="1800">
                <a:solidFill>
                  <a:srgbClr val="23282A"/>
                </a:solidFill>
              </a:defRPr>
            </a:pPr>
            <a:r>
              <a:t>•  Тендеры/сертификация/МСП — обещание результата запрещено, DANGER</a:t>
            </a:r>
          </a:p>
          <a:p>
            <a:pPr>
              <a:spcAft>
                <a:spcPts val="800"/>
              </a:spcAft>
              <a:defRPr sz="1800">
                <a:solidFill>
                  <a:srgbClr val="23282A"/>
                </a:solidFill>
              </a:defRPr>
            </a:pPr>
            <a:r>
              <a:t>•  Договоры «под ключ» как юр-услуга — только разбор текста</a:t>
            </a:r>
          </a:p>
          <a:p>
            <a:pPr>
              <a:spcAft>
                <a:spcPts val="800"/>
              </a:spcAft>
              <a:defRPr sz="1800">
                <a:solidFill>
                  <a:srgbClr val="23282A"/>
                </a:solidFill>
              </a:defRPr>
            </a:pPr>
            <a:r>
              <a:t>•  B2B-консалтинг за 50к одним кворком — не поляна Kwork</a:t>
            </a:r>
          </a:p>
          <a:p>
            <a:pPr>
              <a:spcAft>
                <a:spcPts val="800"/>
              </a:spcAft>
              <a:defRPr sz="1800">
                <a:solidFill>
                  <a:srgbClr val="23282A"/>
                </a:solidFill>
              </a:defRPr>
            </a:pPr>
            <a:r>
              <a:t>•  «Промпт за 500 ₽» — коммодити; продаём агента/workflow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7A33"/>
                </a:solidFill>
              </a:defRPr>
            </a:pPr>
            <a:r>
              <a:t>Раздел аккаунтов и оплата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82A"/>
                </a:solidFill>
              </a:defRPr>
            </a:pPr>
            <a:r>
              <a:t>•  Настя: ОСВ/1С/налоги/маркетплейсы/договоры-разбор/студенческое → ИП Каган</a:t>
            </a:r>
          </a:p>
          <a:p>
            <a:pPr>
              <a:spcAft>
                <a:spcPts val="800"/>
              </a:spcAft>
              <a:defRPr sz="1800">
                <a:solidFill>
                  <a:srgbClr val="23282A"/>
                </a:solidFill>
              </a:defRPr>
            </a:pPr>
            <a:r>
              <a:t>•  Влад: Python/AI/Excel/дашборды/ТЗ/КП/лиды → самозанятость</a:t>
            </a:r>
          </a:p>
          <a:p>
            <a:pPr>
              <a:spcAft>
                <a:spcPts val="800"/>
              </a:spcAft>
              <a:defRPr sz="1800">
                <a:solidFill>
                  <a:srgbClr val="23282A"/>
                </a:solidFill>
              </a:defRPr>
            </a:pPr>
            <a:r>
              <a:t>•  Не смешивать образы публично: один заказ — одно лицо и голос</a:t>
            </a:r>
          </a:p>
          <a:p>
            <a:pPr>
              <a:spcAft>
                <a:spcPts val="800"/>
              </a:spcAft>
              <a:defRPr sz="1800">
                <a:solidFill>
                  <a:srgbClr val="23282A"/>
                </a:solidFill>
              </a:defRPr>
            </a:pPr>
            <a:r>
              <a:t>•  Спорные («таблица для бизнеса») → метка clarify по типу чека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7A33"/>
                </a:solidFill>
              </a:defRPr>
            </a:pPr>
            <a:r>
              <a:t>Первые 72 часа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82A"/>
                </a:solidFill>
              </a:defRPr>
            </a:pPr>
            <a:r>
              <a:t>•  Настя: опубликовать кворк ОСВ (обложка готова) + студенческий для первого отзыва</a:t>
            </a:r>
          </a:p>
          <a:p>
            <a:pPr>
              <a:spcAft>
                <a:spcPts val="800"/>
              </a:spcAft>
              <a:defRPr sz="1800">
                <a:solidFill>
                  <a:srgbClr val="23282A"/>
                </a:solidFill>
              </a:defRPr>
            </a:pPr>
            <a:r>
              <a:t>•  Влад: Python/Excel + AI-агент (после 1-2 примеров портфолио)</a:t>
            </a:r>
          </a:p>
          <a:p>
            <a:pPr>
              <a:spcAft>
                <a:spcPts val="800"/>
              </a:spcAft>
              <a:defRPr sz="1800">
                <a:solidFill>
                  <a:srgbClr val="23282A"/>
                </a:solidFill>
              </a:defRPr>
            </a:pPr>
            <a:r>
              <a:t>•  Охота на бирже: 5-10 откликов/день, приоритет — мало откликов</a:t>
            </a:r>
          </a:p>
          <a:p>
            <a:pPr>
              <a:spcAft>
                <a:spcPts val="800"/>
              </a:spcAft>
              <a:defRPr sz="1800">
                <a:solidFill>
                  <a:srgbClr val="23282A"/>
                </a:solidFill>
              </a:defRPr>
            </a:pPr>
            <a:r>
              <a:t>•  Правила: ответ &lt; 1 ч, цена бизнес-ниш от 1500 ₽, перевыполнять на старте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7A33"/>
                </a:solidFill>
              </a:defRPr>
            </a:pPr>
            <a:r>
              <a:t>Что нужно / коннекторы / долг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82A"/>
                </a:solidFill>
              </a:defRPr>
            </a:pPr>
            <a:r>
              <a:t>•  Дай: доступ к кабинету Kwork (или Chrome) — снимет метки ПРОВЕРИТЬ и закроет 30 заказов/15 конкурентов</a:t>
            </a:r>
          </a:p>
          <a:p>
            <a:pPr>
              <a:spcAft>
                <a:spcPts val="800"/>
              </a:spcAft>
              <a:defRPr sz="1800">
                <a:solidFill>
                  <a:srgbClr val="23282A"/>
                </a:solidFill>
              </a:defRPr>
            </a:pPr>
            <a:r>
              <a:t>•  Коннекторы: Microsoft 365 (тянуть твои Excel/1С-выгрузки из OneDrive), Gamma (авто-деки/обложки)</a:t>
            </a:r>
          </a:p>
          <a:p>
            <a:pPr>
              <a:spcAft>
                <a:spcPts val="800"/>
              </a:spcAft>
              <a:defRPr sz="1800">
                <a:solidFill>
                  <a:srgbClr val="23282A"/>
                </a:solidFill>
              </a:defRPr>
            </a:pPr>
            <a:r>
              <a:t>•  Долг: смежные площадки (Profi/FL/Avito), 6 файлов, портфолио Влада</a:t>
            </a:r>
          </a:p>
          <a:p>
            <a:pPr>
              <a:spcAft>
                <a:spcPts val="800"/>
              </a:spcAft>
              <a:defRPr sz="1800">
                <a:solidFill>
                  <a:srgbClr val="23282A"/>
                </a:solidFill>
              </a:defRPr>
            </a:pPr>
            <a:r>
              <a:t>•  Статус: итерация 1 — НЕ финал; квоты по живым данным открыты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